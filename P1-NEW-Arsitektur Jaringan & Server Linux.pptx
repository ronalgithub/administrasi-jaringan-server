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Inter"/>
      <ns0:bold ns1:id="rIdFont20"/>
      <ns0:regular ns1:id="rIdFont21"/>
    </ns0:embeddedFont>
    <ns0:embeddedFont>
      <ns0:font typeface="Plus Jakarta Sans"/>
      <ns0:bold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f18824c0-300e-43a6-aa94-49f0177d76f2.fntdata" /><ns0:Relationship Id="rIdFont21" Type="http://schemas.openxmlformats.org/officeDocument/2006/relationships/font" Target="fonts/67f111d7-1725-4e03-94c7-dfd40091576f.fntdata" /><ns0:Relationship Id="rIdFont22" Type="http://schemas.openxmlformats.org/officeDocument/2006/relationships/font" Target="fonts/58cc1c51-8e2c-425b-aacd-fc0e94de010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0" y="4951958"/>
            <a:ext cx="7620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31468" y="1867941"/>
            <a:ext cx="3929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B82F6"/>
                </a:solidFill>
                <a:latin typeface="Inter"/>
              </a:rPr>
              <a:t>PERSIAPAN KARIR INDUSTRI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437" y="2296566"/>
            <a:ext cx="12049125" cy="1340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FFFFF"/>
                </a:solidFill>
                <a:latin typeface="Plus Jakarta Sans"/>
              </a:rPr>
              <a:t>Arsitektur Jaringan &amp; Administrasi Server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3942308"/>
            <a:ext cx="95250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Pendekatan Enterprise untuk Skalabilitas, Keamanan, dan Operasional Modern.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3000" y="3624262"/>
            <a:ext cx="9906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347912"/>
            <a:ext cx="1381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B82F6"/>
                </a:solidFill>
                <a:latin typeface="Inter"/>
              </a:rPr>
              <a:t>MODUL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28912"/>
            <a:ext cx="7213401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200" i="0" u="none">
                <a:solidFill>
                  <a:srgbClr val="0F172A"/>
                </a:solidFill>
                <a:latin typeface="Plus Jakarta Sans"/>
              </a:rPr>
              <a:t>Fondasi Infrastruktur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862387"/>
            <a:ext cx="67627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64748B"/>
                </a:solidFill>
                <a:latin typeface="Inter"/>
              </a:rPr>
              <a:t>Server bukan sekadar komputer dengan spesifikasi tinggi.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43000" y="1857375"/>
            <a:ext cx="4648200" cy="4238625"/>
          </a:xfrm>
          <a:prstGeom prst="roundRect">
            <a:avLst>
              <a:gd name="adj" fmla="val 35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0" y="1857375"/>
            <a:ext cx="4648200" cy="4238625"/>
          </a:xfrm>
          <a:prstGeom prst="roundRect">
            <a:avLst>
              <a:gd name="adj" fmla="val 35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25" y="2338387"/>
            <a:ext cx="3048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525" y="2338387"/>
            <a:ext cx="2667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-47625" y="762000"/>
            <a:ext cx="1228725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Plus Jakarta Sans"/>
              </a:rPr>
              <a:t>Realitas Data Center (Enterprise)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66925" y="2324100"/>
            <a:ext cx="2737842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Perangkat Keras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9725" y="2962275"/>
            <a:ext cx="3810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1" sz="1500" i="0" u="none">
                <a:solidFill>
                  <a:srgbClr val="0F172A"/>
                </a:solidFill>
                <a:latin typeface="Inter"/>
              </a:rPr>
              <a:t>Stabilitas Tinggi: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Prioritas waktu aktif 99.9%.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725" y="3724275"/>
            <a:ext cx="3810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1" sz="1500" i="0" u="none">
                <a:solidFill>
                  <a:srgbClr val="0F172A"/>
                </a:solidFill>
                <a:latin typeface="Inter"/>
              </a:rPr>
              <a:t>RAM ECC: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Mencegah korupsi data permanen.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725" y="4486275"/>
            <a:ext cx="3810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1" sz="1500" i="0" u="none">
                <a:solidFill>
                  <a:srgbClr val="0F172A"/>
                </a:solidFill>
                <a:latin typeface="Inter"/>
              </a:rPr>
              <a:t>RAID Storage: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Redundansi saat kegagalan disk.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86625" y="2324100"/>
            <a:ext cx="2587823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Sistem Operasi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67525" y="2962275"/>
            <a:ext cx="3810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1" sz="1500" i="0" u="none">
                <a:solidFill>
                  <a:srgbClr val="0F172A"/>
                </a:solidFill>
                <a:latin typeface="Inter"/>
              </a:rPr>
              <a:t>Ubuntu Linux: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Standar infrastruktur cloud modern.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67525" y="3724275"/>
            <a:ext cx="3810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1" sz="1500" i="0" u="none">
                <a:solidFill>
                  <a:srgbClr val="0F172A"/>
                </a:solidFill>
                <a:latin typeface="Inter"/>
              </a:rPr>
              <a:t>Windows Server: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Manajemen identitas tersentralisasi.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7525" y="4486275"/>
            <a:ext cx="3810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1" sz="1500" i="0" u="none">
                <a:solidFill>
                  <a:srgbClr val="0F172A"/>
                </a:solidFill>
                <a:latin typeface="Inter"/>
              </a:rPr>
              <a:t>Isolasi Beban: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Alokasi OS berdasarkan fungsi.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3000" y="3786187"/>
            <a:ext cx="9906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509837"/>
            <a:ext cx="14192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B82F6"/>
                </a:solidFill>
                <a:latin typeface="Inter"/>
              </a:rPr>
              <a:t>MODUL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890837"/>
            <a:ext cx="6613326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200" i="0" u="none">
                <a:solidFill>
                  <a:srgbClr val="0F172A"/>
                </a:solidFill>
                <a:latin typeface="Plus Jakarta Sans"/>
              </a:rPr>
              <a:t>Keamanan Jaringan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024312"/>
            <a:ext cx="73342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64748B"/>
                </a:solidFill>
                <a:latin typeface="Inter"/>
              </a:rPr>
              <a:t>Memperkecil radius ledakan dari insiden siber.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0" y="0"/>
            <a:ext cx="52197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0"/>
            <a:ext cx="52197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141440"/>
            <a:ext cx="13335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789140"/>
            <a:ext cx="13335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208240"/>
            <a:ext cx="13335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" y="1478309"/>
            <a:ext cx="6524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B82F6"/>
                </a:solidFill>
                <a:latin typeface="Inter"/>
              </a:rPr>
              <a:t>SEGMENTASI VLAN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821209"/>
            <a:ext cx="5580697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Isolasi Ancaman 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31790"/>
            <a:ext cx="53149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Jika satu segmen terserang malware, operasional departemen lain tetap berjalan aman.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8750" y="408429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VLAN Manajemen: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Sembunyikan perangkat infrastruktur.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8750" y="4731990"/>
            <a:ext cx="517921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VLAN Pengguna: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Pemisahan hak akses logis.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8750" y="5151090"/>
            <a:ext cx="589359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Routing L3: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Kontrol ketat komunikasi antar segmen.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43000" y="2919412"/>
            <a:ext cx="3098750" cy="2457450"/>
          </a:xfrm>
          <a:prstGeom prst="roundRect">
            <a:avLst>
              <a:gd name="adj" fmla="val 62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46550" y="2919412"/>
            <a:ext cx="3098750" cy="2457450"/>
          </a:xfrm>
          <a:prstGeom prst="roundRect">
            <a:avLst>
              <a:gd name="adj" fmla="val 62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50100" y="2919412"/>
            <a:ext cx="3098750" cy="2457450"/>
          </a:xfrm>
          <a:prstGeom prst="roundRect">
            <a:avLst>
              <a:gd name="adj" fmla="val 62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500" y="3309937"/>
            <a:ext cx="60960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051" y="3309937"/>
            <a:ext cx="609600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4601" y="3309937"/>
            <a:ext cx="609600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000" y="3500437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1551" y="3500437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5101" y="3500437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-47625" y="762000"/>
            <a:ext cx="12287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B82F6"/>
                </a:solidFill>
                <a:latin typeface="Inter"/>
              </a:rPr>
              <a:t>PRINSIP LEAST PRIVILEGE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47625" y="1104900"/>
            <a:ext cx="1228725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Plus Jakarta Sans"/>
              </a:rPr>
              <a:t>Pertahanan Aktif (Hardening 101)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1371" y="4148137"/>
            <a:ext cx="3242006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Otentikasi SSH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8562" y="4586287"/>
            <a:ext cx="30876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Matikan akses login kata sandi.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4922" y="4148137"/>
            <a:ext cx="3242006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Firewall UFW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2112" y="4586287"/>
            <a:ext cx="30876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Tutup semua port non-esensial.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472" y="4148137"/>
            <a:ext cx="3242006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Plus Jakarta Sans"/>
              </a:rPr>
              <a:t>Fail2ban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663" y="4586287"/>
            <a:ext cx="30876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Blokir otomatis serangan brute-force.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3000" y="3624262"/>
            <a:ext cx="9906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347912"/>
            <a:ext cx="1428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B82F6"/>
                </a:solidFill>
                <a:latin typeface="Inter"/>
              </a:rPr>
              <a:t>MODUL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28912"/>
            <a:ext cx="7688460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200" i="0" u="none">
                <a:solidFill>
                  <a:srgbClr val="0F172A"/>
                </a:solidFill>
                <a:latin typeface="Plus Jakarta Sans"/>
              </a:rPr>
              <a:t>Kontainerisasi Modern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862387"/>
            <a:ext cx="67627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64748B"/>
                </a:solidFill>
                <a:latin typeface="Inter"/>
              </a:rPr>
              <a:t>Meninggalkan instalasi server bare-metal konvensional.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672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2672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933700"/>
            <a:ext cx="171450" cy="5600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750915"/>
            <a:ext cx="25717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4577655"/>
            <a:ext cx="22860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1710779"/>
            <a:ext cx="71628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B82F6"/>
                </a:solidFill>
                <a:latin typeface="Inter"/>
              </a:rPr>
              <a:t>INFRASTRUCTURE AS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053679"/>
            <a:ext cx="7162800" cy="460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b="1" sz="3300" i="0" u="none">
                <a:solidFill>
                  <a:srgbClr val="0F172A"/>
                </a:solidFill>
                <a:latin typeface="Plus Jakarta Sans"/>
              </a:rPr>
              <a:t>Tinggalkan Instalasi Manual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3050" y="2895600"/>
            <a:ext cx="5295900" cy="598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Format YAML Terpusat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Deklarasi seluruh infrastruktur dalam bentuk kode murni.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38775" y="3722340"/>
            <a:ext cx="5838825" cy="598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Isolasi Tanpa Overhead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Berbagi kernel tanpa membebani memori seperti mesin virtual.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0200" y="4549080"/>
            <a:ext cx="5715000" cy="598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Portabilitas Instan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Reproduksi lingkungan kompleks hanya dalam hitungan detik.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43000" y="3786187"/>
            <a:ext cx="9906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509837"/>
            <a:ext cx="1428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B82F6"/>
                </a:solidFill>
                <a:latin typeface="Inter"/>
              </a:rPr>
              <a:t>MODUL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890837"/>
            <a:ext cx="8751093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200" i="0" u="none">
                <a:solidFill>
                  <a:srgbClr val="0F172A"/>
                </a:solidFill>
                <a:latin typeface="Plus Jakarta Sans"/>
              </a:rPr>
              <a:t>Operasional &amp; Diagnostik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024312"/>
            <a:ext cx="7405687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64748B"/>
                </a:solidFill>
                <a:latin typeface="Inter"/>
              </a:rPr>
              <a:t>Deteksi anomali sebelum pengguna mengeluh.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210050" y="3700462"/>
            <a:ext cx="9525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72425" y="3700462"/>
            <a:ext cx="9525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-47625" y="1824037"/>
            <a:ext cx="12287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B82F6"/>
                </a:solidFill>
                <a:latin typeface="Inter"/>
              </a:rPr>
              <a:t>VISIBILITAS 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47625" y="2166937"/>
            <a:ext cx="1228725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Plus Jakarta Sans"/>
              </a:rPr>
              <a:t>Pemantauan Secara Proaktif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343" y="3509962"/>
            <a:ext cx="2976562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3B82F6"/>
                </a:solidFill>
                <a:latin typeface="Inter"/>
              </a:rPr>
              <a:t>99.9%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343" y="4348162"/>
            <a:ext cx="29765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Target Operasional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343" y="4652962"/>
            <a:ext cx="2976562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Waktu aktif layanan minimum per bulan.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7718" y="3509962"/>
            <a:ext cx="2976562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0F172A"/>
                </a:solidFill>
                <a:latin typeface="Inter"/>
              </a:rPr>
              <a:t>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7718" y="4348162"/>
            <a:ext cx="29765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Ambang Kapasitas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7718" y="4652962"/>
            <a:ext cx="2976562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Pemicu otomatis notifikasi disk penuh.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0093" y="3509962"/>
            <a:ext cx="2976562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0F172A"/>
                </a:solidFill>
                <a:latin typeface="Inter"/>
              </a:rPr>
              <a:t>L7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0093" y="4348162"/>
            <a:ext cx="29765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Analisis Aplikasi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0093" y="4652962"/>
            <a:ext cx="2976562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Sentralisasi pencarian log sistem operasional.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762000"/>
            <a:ext cx="11049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B82F6"/>
                </a:solidFill>
                <a:latin typeface="Inter"/>
              </a:rPr>
              <a:t>BERHENTI MENEBAK ACAK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104900"/>
            <a:ext cx="110490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Plus Jakarta Sans"/>
              </a:rPr>
              <a:t>Metodologi Diagnostik Terstruktur</a:t>
            </a:r>
          </a:p>
        </p:txBody>
      </p:sp>
      <p:sp>
        <p:nvSpPr>
          <p:cNvPr id="4" name="Rectangle 3"/>
          <p:cNvSpPr/>
          <p:nvPr/>
        </p:nvSpPr>
        <p:spPr>
          <a:xfrm>
            <a:off x="1619250" y="2676525"/>
            <a:ext cx="89535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84400" y="24860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86450" y="24860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88499" y="24860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41525" y="2486025"/>
            <a:ext cx="7048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65287" y="3133725"/>
            <a:ext cx="1912739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Fisik (Layer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65200" y="3533775"/>
            <a:ext cx="2857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Validasi status koneksi kabel jaringan perangkat.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43575" y="2486025"/>
            <a:ext cx="7048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9237" y="3133725"/>
            <a:ext cx="201275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Rute (Layer 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7250" y="3533775"/>
            <a:ext cx="2857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Periksa tabel konfigurasi rute IP internal.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5624" y="2486025"/>
            <a:ext cx="7048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9362" y="3133725"/>
            <a:ext cx="2437804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Aplikasi (Layer 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69299" y="3533775"/>
            <a:ext cx="2857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Inter"/>
              </a:rPr>
              <a:t>Analisis jejak histori pada log terpusat.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91112" y="4636591"/>
            <a:ext cx="2009775" cy="542925"/>
          </a:xfrm>
          <a:prstGeom prst="roundRect">
            <a:avLst>
              <a:gd name="adj" fmla="val 14035"/>
            </a:avLst>
          </a:prstGeom>
          <a:noFill/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0296" y="1678483"/>
            <a:ext cx="11251406" cy="1919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b="1" sz="4200" i="0" u="none">
                <a:solidFill>
                  <a:srgbClr val="FFFFFF"/>
                </a:solidFill>
                <a:latin typeface="Plus Jakarta Sans"/>
              </a:rPr>
              <a:t>Kemampuan memecahkan masalah adalah aset terbesar di lapangan.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31406" y="3903166"/>
            <a:ext cx="49291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Sesi Diskusi &amp; Tanya Jawab Terbuka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4690" y="4788991"/>
            <a:ext cx="1902618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3B82F6"/>
                </a:solidFill>
                <a:latin typeface="Inter"/>
              </a:rPr>
              <a:t>TERIMA KASIH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85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85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33462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3832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Plus Jakarta Sans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00125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https://plus.unsplash.com/premium_vector-1757571256854-67b849b07253?fm=jpg&amp;q=60&amp;w=3000&amp;auto=format&amp;fit=crop&amp;ixlib=rb-4.1.0&amp;ixid=M3wxMjA3fDB8MHxwaG90by1wYWdlfHx8fGVufDB8fHx8fA%3D%3D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352550"/>
            <a:ext cx="19883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unsplash.com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81187"/>
            <a:ext cx="105013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https://img.magnific.com/premium-psd/three-stacked-shipping-containers-global-logistics_1169301-36263.jpg?semt=ais_hybrid&amp;w=740&amp;q=80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81212"/>
            <a:ext cx="24884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www.magnific.com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